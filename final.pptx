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44" autoAdjust="0"/>
    <p:restoredTop sz="94660"/>
  </p:normalViewPr>
  <p:slideViewPr>
    <p:cSldViewPr snapToGrid="0">
      <p:cViewPr varScale="1">
        <p:scale>
          <a:sx n="73" d="100"/>
          <a:sy n="73" d="100"/>
        </p:scale>
        <p:origin x="6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C5AFBFE-8C34-4D36-919E-7B86384BCFB0}" type="datetimeFigureOut">
              <a:rPr lang="en-GB" smtClean="0"/>
            </a:fld>
            <a:endParaRPr lang="en-GB"/>
          </a:p>
        </p:txBody>
      </p:sp>
      <p:sp>
        <p:nvSpPr>
          <p:cNvPr id="5" name="Footer Placeholder 4"/>
          <p:cNvSpPr>
            <a:spLocks noGrp="1"/>
          </p:cNvSpPr>
          <p:nvPr>
            <p:ph type="ftr" sz="quarter" idx="11"/>
          </p:nvPr>
        </p:nvSpPr>
        <p:spPr>
          <a:xfrm>
            <a:off x="5332412" y="5883275"/>
            <a:ext cx="4324044" cy="365125"/>
          </a:xfrm>
        </p:spPr>
        <p:txBody>
          <a:bodyPr/>
          <a:lstStyle/>
          <a:p>
            <a:endParaRPr lang="en-GB"/>
          </a:p>
        </p:txBody>
      </p:sp>
      <p:sp>
        <p:nvSpPr>
          <p:cNvPr id="6" name="Slide Number Placeholder 5"/>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8C5AFBFE-8C34-4D36-919E-7B86384BCFB0}"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951856" y="5867131"/>
            <a:ext cx="551167" cy="365125"/>
          </a:xfrm>
        </p:spPr>
        <p:txBody>
          <a:bodyPr/>
          <a:lstStyle/>
          <a:p>
            <a:fld id="{D10EAFFA-5292-46AA-9E27-10D92FCB6441}"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8C5AFBFE-8C34-4D36-919E-7B86384BCFB0}"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8C5AFBFE-8C34-4D36-919E-7B86384BCFB0}"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8C5AFBFE-8C34-4D36-919E-7B86384BCFB0}"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C5AFBFE-8C34-4D36-919E-7B86384BCFB0}"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5AFBFE-8C34-4D36-919E-7B86384BCFB0}"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8C5AFBFE-8C34-4D36-919E-7B86384BCFB0}"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8C5AFBFE-8C34-4D36-919E-7B86384BCFB0}"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8C5AFBFE-8C34-4D36-919E-7B86384BCFB0}"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8C5AFBFE-8C34-4D36-919E-7B86384BCFB0}"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8C5AFBFE-8C34-4D36-919E-7B86384BCFB0}"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8C5AFBFE-8C34-4D36-919E-7B86384BCFB0}"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endParaRPr lang="en-US" smtClean="0"/>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8C5AFBFE-8C34-4D36-919E-7B86384BCFB0}"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endParaRPr lang="en-US" smtClean="0"/>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8C5AFBFE-8C34-4D36-919E-7B86384BCFB0}"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8C5AFBFE-8C34-4D36-919E-7B86384BCFB0}"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8C5AFBFE-8C34-4D36-919E-7B86384BCFB0}"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10EAFFA-5292-46AA-9E27-10D92FCB6441}"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C5AFBFE-8C34-4D36-919E-7B86384BCFB0}" type="datetimeFigureOut">
              <a:rPr lang="en-GB" smtClean="0"/>
            </a:fld>
            <a:endParaRPr lang="en-GB"/>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10EAFFA-5292-46AA-9E27-10D92FCB6441}"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672046" y="561702"/>
            <a:ext cx="9292046" cy="1227913"/>
          </a:xfrm>
        </p:spPr>
        <p:txBody>
          <a:bodyPr anchor="b">
            <a:normAutofit/>
          </a:bodyPr>
          <a:lstStyle/>
          <a:p>
            <a:pPr algn="ctr"/>
            <a:r>
              <a:rPr lang="en-GB" spc="0" dirty="0" smtClean="0">
                <a:latin typeface="Algerian" panose="04020705040A02060702" pitchFamily="82" charset="0"/>
              </a:rPr>
              <a:t>INTRODUCTION</a:t>
            </a:r>
            <a:endParaRPr lang="en-GB" spc="0" dirty="0">
              <a:latin typeface="Algerian" panose="04020705040A02060702" pitchFamily="82" charset="0"/>
            </a:endParaRPr>
          </a:p>
        </p:txBody>
      </p:sp>
      <p:sp>
        <p:nvSpPr>
          <p:cNvPr id="11" name="Content Placeholder 10"/>
          <p:cNvSpPr>
            <a:spLocks noGrp="1"/>
          </p:cNvSpPr>
          <p:nvPr>
            <p:ph idx="1"/>
          </p:nvPr>
        </p:nvSpPr>
        <p:spPr>
          <a:xfrm>
            <a:off x="1489166" y="2142310"/>
            <a:ext cx="10052460" cy="2037806"/>
          </a:xfrm>
          <a:ln>
            <a:noFill/>
          </a:ln>
        </p:spPr>
        <p:txBody>
          <a:bodyPr>
            <a:normAutofit fontScale="92500"/>
          </a:bodyPr>
          <a:lstStyle/>
          <a:p>
            <a:pPr marL="0" indent="0" algn="just">
              <a:buNone/>
            </a:pPr>
            <a:r>
              <a:rPr lang="en-GB" sz="2400" b="1" i="1" dirty="0" smtClean="0">
                <a:latin typeface="Arial" panose="020B0604020202020204" pitchFamily="34" charset="0"/>
                <a:cs typeface="Arial" panose="020B0604020202020204" pitchFamily="34" charset="0"/>
              </a:rPr>
              <a:t>Allow </a:t>
            </a:r>
            <a:r>
              <a:rPr lang="en-GB" sz="2400" b="1" i="1" dirty="0">
                <a:latin typeface="Arial" panose="020B0604020202020204" pitchFamily="34" charset="0"/>
                <a:cs typeface="Arial" panose="020B0604020202020204" pitchFamily="34" charset="0"/>
              </a:rPr>
              <a:t>me to introduce </a:t>
            </a:r>
            <a:r>
              <a:rPr lang="en-GB" sz="2400" b="1" i="1" dirty="0" smtClean="0">
                <a:latin typeface="Arial" panose="020B0604020202020204" pitchFamily="34" charset="0"/>
                <a:cs typeface="Arial" panose="020B0604020202020204" pitchFamily="34" charset="0"/>
              </a:rPr>
              <a:t>myself. My </a:t>
            </a:r>
            <a:r>
              <a:rPr lang="en-GB" sz="2400" b="1" i="1" dirty="0">
                <a:latin typeface="Arial" panose="020B0604020202020204" pitchFamily="34" charset="0"/>
                <a:cs typeface="Arial" panose="020B0604020202020204" pitchFamily="34" charset="0"/>
              </a:rPr>
              <a:t>name is Fatima </a:t>
            </a:r>
            <a:r>
              <a:rPr lang="en-GB" sz="2400" b="1" i="1" dirty="0" smtClean="0">
                <a:latin typeface="Arial" panose="020B0604020202020204" pitchFamily="34" charset="0"/>
                <a:cs typeface="Arial" panose="020B0604020202020204" pitchFamily="34" charset="0"/>
              </a:rPr>
              <a:t>Zahra. I </a:t>
            </a:r>
            <a:r>
              <a:rPr lang="en-GB" sz="2400" b="1" i="1" dirty="0">
                <a:latin typeface="Arial" panose="020B0604020202020204" pitchFamily="34" charset="0"/>
                <a:cs typeface="Arial" panose="020B0604020202020204" pitchFamily="34" charset="0"/>
              </a:rPr>
              <a:t>am from Karachi </a:t>
            </a:r>
            <a:r>
              <a:rPr lang="en-GB" sz="2400" b="1" i="1" dirty="0" smtClean="0">
                <a:latin typeface="Arial" panose="020B0604020202020204" pitchFamily="34" charset="0"/>
                <a:cs typeface="Arial" panose="020B0604020202020204" pitchFamily="34" charset="0"/>
              </a:rPr>
              <a:t>itself. I </a:t>
            </a:r>
            <a:r>
              <a:rPr lang="en-GB" sz="2400" b="1" i="1" dirty="0">
                <a:latin typeface="Arial" panose="020B0604020202020204" pitchFamily="34" charset="0"/>
                <a:cs typeface="Arial" panose="020B0604020202020204" pitchFamily="34" charset="0"/>
              </a:rPr>
              <a:t>recently completed my intermediate in Engineering </a:t>
            </a:r>
            <a:r>
              <a:rPr lang="en-GB" b="1" i="1" dirty="0" smtClean="0">
                <a:latin typeface="Arial" panose="020B0604020202020204" pitchFamily="34" charset="0"/>
                <a:cs typeface="Arial" panose="020B0604020202020204" pitchFamily="34" charset="0"/>
              </a:rPr>
              <a:t>f</a:t>
            </a:r>
            <a:r>
              <a:rPr lang="en-GB" sz="2400" b="1" i="1" dirty="0" smtClean="0">
                <a:latin typeface="Arial" panose="020B0604020202020204" pitchFamily="34" charset="0"/>
                <a:cs typeface="Arial" panose="020B0604020202020204" pitchFamily="34" charset="0"/>
              </a:rPr>
              <a:t>aculty. I </a:t>
            </a:r>
            <a:r>
              <a:rPr lang="en-GB" sz="2400" b="1" i="1" dirty="0">
                <a:latin typeface="Arial" panose="020B0604020202020204" pitchFamily="34" charset="0"/>
                <a:cs typeface="Arial" panose="020B0604020202020204" pitchFamily="34" charset="0"/>
              </a:rPr>
              <a:t>was free from study </a:t>
            </a:r>
            <a:r>
              <a:rPr lang="en-GB" sz="2400" b="1" i="1" dirty="0" smtClean="0">
                <a:latin typeface="Arial" panose="020B0604020202020204" pitchFamily="34" charset="0"/>
                <a:cs typeface="Arial" panose="020B0604020202020204" pitchFamily="34" charset="0"/>
              </a:rPr>
              <a:t>so I </a:t>
            </a:r>
            <a:r>
              <a:rPr lang="en-GB" sz="2400" b="1" i="1" dirty="0">
                <a:latin typeface="Arial" panose="020B0604020202020204" pitchFamily="34" charset="0"/>
                <a:cs typeface="Arial" panose="020B0604020202020204" pitchFamily="34" charset="0"/>
              </a:rPr>
              <a:t>joined classes of CIT course in </a:t>
            </a:r>
            <a:r>
              <a:rPr lang="en-GB" sz="2400" b="1" i="1" dirty="0" err="1" smtClean="0">
                <a:latin typeface="Arial" panose="020B0604020202020204" pitchFamily="34" charset="0"/>
                <a:cs typeface="Arial" panose="020B0604020202020204" pitchFamily="34" charset="0"/>
              </a:rPr>
              <a:t>banoqabil</a:t>
            </a:r>
            <a:r>
              <a:rPr lang="en-GB" sz="2400" b="1" i="1" dirty="0" smtClean="0">
                <a:latin typeface="Arial" panose="020B0604020202020204" pitchFamily="34" charset="0"/>
                <a:cs typeface="Arial" panose="020B0604020202020204" pitchFamily="34" charset="0"/>
              </a:rPr>
              <a:t> and its going on. I </a:t>
            </a:r>
            <a:r>
              <a:rPr lang="en-GB" sz="2400" b="1" i="1" dirty="0">
                <a:latin typeface="Arial" panose="020B0604020202020204" pitchFamily="34" charset="0"/>
                <a:cs typeface="Arial" panose="020B0604020202020204" pitchFamily="34" charset="0"/>
              </a:rPr>
              <a:t>am an introvert girl but it doesn’t mean I don’t have </a:t>
            </a:r>
            <a:r>
              <a:rPr lang="en-GB" sz="2400" b="1" i="1" dirty="0" smtClean="0">
                <a:latin typeface="Arial" panose="020B0604020202020204" pitchFamily="34" charset="0"/>
                <a:cs typeface="Arial" panose="020B0604020202020204" pitchFamily="34" charset="0"/>
              </a:rPr>
              <a:t>confidence. </a:t>
            </a:r>
            <a:r>
              <a:rPr lang="en-GB" b="1" i="1" dirty="0" smtClean="0">
                <a:latin typeface="Arial" panose="020B0604020202020204" pitchFamily="34" charset="0"/>
                <a:cs typeface="Arial" panose="020B0604020202020204" pitchFamily="34" charset="0"/>
              </a:rPr>
              <a:t>Still</a:t>
            </a:r>
            <a:r>
              <a:rPr lang="en-GB" sz="2400" b="1" i="1" dirty="0" smtClean="0">
                <a:latin typeface="Arial" panose="020B0604020202020204" pitchFamily="34" charset="0"/>
                <a:cs typeface="Arial" panose="020B0604020202020204" pitchFamily="34" charset="0"/>
              </a:rPr>
              <a:t> I am trying to be a better version of me.</a:t>
            </a:r>
            <a:endParaRPr lang="en-GB" sz="2400" b="1" i="1" dirty="0"/>
          </a:p>
        </p:txBody>
      </p:sp>
      <p:cxnSp>
        <p:nvCxnSpPr>
          <p:cNvPr id="8" name="Straight Connector 7"/>
          <p:cNvCxnSpPr/>
          <p:nvPr/>
        </p:nvCxnSpPr>
        <p:spPr>
          <a:xfrm>
            <a:off x="1271451" y="1789616"/>
            <a:ext cx="10920549" cy="130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84310" y="539939"/>
            <a:ext cx="10018713" cy="1138641"/>
          </a:xfrm>
        </p:spPr>
        <p:txBody>
          <a:bodyPr anchor="ctr"/>
          <a:lstStyle/>
          <a:p>
            <a:r>
              <a:rPr lang="en-GB" dirty="0" smtClean="0">
                <a:latin typeface="Algerian" panose="04020705040A02060702" pitchFamily="82" charset="0"/>
              </a:rPr>
              <a:t>PERSIONALITY TRAIT</a:t>
            </a:r>
            <a:endParaRPr lang="en-GB" dirty="0">
              <a:latin typeface="Algerian" panose="04020705040A02060702" pitchFamily="82" charset="0"/>
            </a:endParaRPr>
          </a:p>
        </p:txBody>
      </p:sp>
      <p:sp>
        <p:nvSpPr>
          <p:cNvPr id="11" name="Rounded Rectangle 10"/>
          <p:cNvSpPr/>
          <p:nvPr/>
        </p:nvSpPr>
        <p:spPr>
          <a:xfrm>
            <a:off x="1371600" y="4336868"/>
            <a:ext cx="2704012" cy="13454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smtClean="0"/>
              <a:t>Attentive</a:t>
            </a:r>
            <a:endParaRPr lang="en-GB" sz="2800" dirty="0"/>
          </a:p>
        </p:txBody>
      </p:sp>
      <p:sp>
        <p:nvSpPr>
          <p:cNvPr id="13" name="Rounded Rectangle 12"/>
          <p:cNvSpPr/>
          <p:nvPr/>
        </p:nvSpPr>
        <p:spPr>
          <a:xfrm>
            <a:off x="3037115" y="2640870"/>
            <a:ext cx="2704012" cy="13454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smtClean="0"/>
              <a:t>Empathetic</a:t>
            </a:r>
            <a:endParaRPr lang="en-GB" sz="2800" dirty="0"/>
          </a:p>
        </p:txBody>
      </p:sp>
      <p:sp>
        <p:nvSpPr>
          <p:cNvPr id="14" name="Rounded Rectangle 13"/>
          <p:cNvSpPr/>
          <p:nvPr/>
        </p:nvSpPr>
        <p:spPr>
          <a:xfrm>
            <a:off x="7016930" y="2640870"/>
            <a:ext cx="2823254" cy="13454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smtClean="0"/>
              <a:t>Adventurous</a:t>
            </a:r>
            <a:endParaRPr lang="en-GB" sz="2800" dirty="0"/>
          </a:p>
        </p:txBody>
      </p:sp>
      <p:sp>
        <p:nvSpPr>
          <p:cNvPr id="15" name="Rounded Rectangle 14"/>
          <p:cNvSpPr/>
          <p:nvPr/>
        </p:nvSpPr>
        <p:spPr>
          <a:xfrm>
            <a:off x="4925536" y="4336867"/>
            <a:ext cx="2704012" cy="13454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smtClean="0"/>
              <a:t>Adaptable</a:t>
            </a:r>
            <a:endParaRPr lang="en-GB" sz="2800" dirty="0"/>
          </a:p>
        </p:txBody>
      </p:sp>
      <p:cxnSp>
        <p:nvCxnSpPr>
          <p:cNvPr id="17" name="Straight Connector 16"/>
          <p:cNvCxnSpPr/>
          <p:nvPr/>
        </p:nvCxnSpPr>
        <p:spPr>
          <a:xfrm>
            <a:off x="1371600" y="1502229"/>
            <a:ext cx="10820400" cy="130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8799011" y="4336866"/>
            <a:ext cx="2704012" cy="13454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smtClean="0"/>
              <a:t>Perseverant</a:t>
            </a:r>
            <a:endParaRPr lang="en-GB" sz="2800" dirty="0"/>
          </a:p>
        </p:txBody>
      </p:sp>
      <p:cxnSp>
        <p:nvCxnSpPr>
          <p:cNvPr id="22" name="Straight Arrow Connector 21"/>
          <p:cNvCxnSpPr/>
          <p:nvPr/>
        </p:nvCxnSpPr>
        <p:spPr>
          <a:xfrm flipH="1">
            <a:off x="4775200" y="1534881"/>
            <a:ext cx="1118327" cy="10776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893527" y="1526179"/>
            <a:ext cx="1343296" cy="10863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76349"/>
            <a:ext cx="9987733" cy="1639389"/>
          </a:xfrm>
        </p:spPr>
        <p:txBody>
          <a:bodyPr/>
          <a:lstStyle/>
          <a:p>
            <a:r>
              <a:rPr lang="en-GB" dirty="0" smtClean="0">
                <a:latin typeface="Algerian" panose="04020705040A02060702" pitchFamily="82" charset="0"/>
              </a:rPr>
              <a:t>HOBBIES AND INTEREST</a:t>
            </a:r>
            <a:endParaRPr lang="en-GB" dirty="0">
              <a:latin typeface="Algerian" panose="04020705040A02060702" pitchFamily="82" charset="0"/>
            </a:endParaRPr>
          </a:p>
        </p:txBody>
      </p:sp>
      <p:sp>
        <p:nvSpPr>
          <p:cNvPr id="3" name="Content Placeholder 2"/>
          <p:cNvSpPr>
            <a:spLocks noGrp="1"/>
          </p:cNvSpPr>
          <p:nvPr>
            <p:ph idx="1"/>
          </p:nvPr>
        </p:nvSpPr>
        <p:spPr>
          <a:xfrm>
            <a:off x="1484310" y="1685109"/>
            <a:ext cx="10018713" cy="3931921"/>
          </a:xfrm>
        </p:spPr>
        <p:txBody>
          <a:bodyPr>
            <a:normAutofit lnSpcReduction="10000"/>
          </a:bodyPr>
          <a:lstStyle/>
          <a:p>
            <a:r>
              <a:rPr lang="en-GB" b="1" dirty="0" smtClean="0"/>
              <a:t>Discover new talents: </a:t>
            </a:r>
            <a:r>
              <a:rPr lang="en-GB" dirty="0" smtClean="0"/>
              <a:t>Try new activities to find what you enjoy.</a:t>
            </a:r>
            <a:endParaRPr lang="en-GB" dirty="0"/>
          </a:p>
          <a:p>
            <a:r>
              <a:rPr lang="en-GB" b="1" dirty="0" smtClean="0"/>
              <a:t>Develop skills: </a:t>
            </a:r>
            <a:r>
              <a:rPr lang="en-GB" dirty="0" smtClean="0"/>
              <a:t>Improve existing skills or learn new ones.</a:t>
            </a:r>
            <a:endParaRPr lang="en-GB" dirty="0" smtClean="0"/>
          </a:p>
          <a:p>
            <a:r>
              <a:rPr lang="en-GB" b="1" dirty="0" smtClean="0"/>
              <a:t>Reduce stress: </a:t>
            </a:r>
            <a:r>
              <a:rPr lang="en-GB" dirty="0" smtClean="0"/>
              <a:t>Engage in activities that calm your mind.</a:t>
            </a:r>
            <a:endParaRPr lang="en-GB" dirty="0" smtClean="0"/>
          </a:p>
          <a:p>
            <a:r>
              <a:rPr lang="en-GB" b="1" dirty="0" smtClean="0"/>
              <a:t>Art: </a:t>
            </a:r>
            <a:r>
              <a:rPr lang="en-GB" dirty="0" smtClean="0"/>
              <a:t>Drawing, sculpting.</a:t>
            </a:r>
            <a:endParaRPr lang="en-GB" dirty="0" smtClean="0"/>
          </a:p>
          <a:p>
            <a:r>
              <a:rPr lang="en-GB" b="1" dirty="0" smtClean="0"/>
              <a:t>Reading: </a:t>
            </a:r>
            <a:r>
              <a:rPr lang="en-GB" dirty="0" smtClean="0"/>
              <a:t>Fiction, non-fiction and genres.</a:t>
            </a:r>
            <a:endParaRPr lang="en-GB" dirty="0" smtClean="0"/>
          </a:p>
          <a:p>
            <a:r>
              <a:rPr lang="en-GB" b="1" dirty="0" smtClean="0"/>
              <a:t>Learning new languages: </a:t>
            </a:r>
            <a:r>
              <a:rPr lang="en-GB" dirty="0" smtClean="0"/>
              <a:t>Explore cultures.</a:t>
            </a:r>
            <a:endParaRPr lang="en-GB" dirty="0" smtClean="0"/>
          </a:p>
          <a:p>
            <a:r>
              <a:rPr lang="en-GB" b="1" dirty="0" smtClean="0"/>
              <a:t>Travel: </a:t>
            </a:r>
            <a:r>
              <a:rPr lang="en-GB" dirty="0" smtClean="0"/>
              <a:t>Explore new places.</a:t>
            </a:r>
            <a:endParaRPr lang="en-GB" dirty="0" smtClean="0"/>
          </a:p>
          <a:p>
            <a:r>
              <a:rPr lang="en-GB" b="1" dirty="0" smtClean="0"/>
              <a:t>Photography: </a:t>
            </a:r>
            <a:r>
              <a:rPr lang="en-GB" dirty="0" smtClean="0"/>
              <a:t>Capture moments.</a:t>
            </a:r>
            <a:endParaRPr lang="en-GB" b="1" dirty="0" smtClean="0"/>
          </a:p>
        </p:txBody>
      </p:sp>
      <p:cxnSp>
        <p:nvCxnSpPr>
          <p:cNvPr id="5" name="Straight Connector 4"/>
          <p:cNvCxnSpPr/>
          <p:nvPr/>
        </p:nvCxnSpPr>
        <p:spPr>
          <a:xfrm>
            <a:off x="1371600" y="1436914"/>
            <a:ext cx="10820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4581" y="646247"/>
            <a:ext cx="8613278" cy="1090749"/>
          </a:xfrm>
        </p:spPr>
        <p:txBody>
          <a:bodyPr/>
          <a:lstStyle/>
          <a:p>
            <a:r>
              <a:rPr lang="en-GB" dirty="0" smtClean="0">
                <a:latin typeface="Algerian" panose="04020705040A02060702" pitchFamily="82" charset="0"/>
              </a:rPr>
              <a:t>ACADEMIC</a:t>
            </a:r>
            <a:endParaRPr lang="en-GB" dirty="0">
              <a:latin typeface="Algerian" panose="04020705040A02060702" pitchFamily="82" charset="0"/>
            </a:endParaRPr>
          </a:p>
        </p:txBody>
      </p:sp>
      <p:sp>
        <p:nvSpPr>
          <p:cNvPr id="3" name="Content Placeholder 2"/>
          <p:cNvSpPr>
            <a:spLocks noGrp="1"/>
          </p:cNvSpPr>
          <p:nvPr>
            <p:ph idx="1"/>
          </p:nvPr>
        </p:nvSpPr>
        <p:spPr>
          <a:xfrm>
            <a:off x="1680210" y="2071370"/>
            <a:ext cx="9273540" cy="2299970"/>
          </a:xfrm>
        </p:spPr>
        <p:txBody>
          <a:bodyPr/>
          <a:lstStyle/>
          <a:p>
            <a:pPr>
              <a:buFont typeface="Wingdings" panose="05000000000000000000" charset="0"/>
              <a:buChar char="ü"/>
            </a:pPr>
            <a:r>
              <a:rPr lang="en-GB" dirty="0" smtClean="0"/>
              <a:t>I had completed my matric (science faculty) in 2022.</a:t>
            </a:r>
            <a:endParaRPr lang="en-GB" dirty="0" smtClean="0"/>
          </a:p>
          <a:p>
            <a:pPr>
              <a:buFont typeface="Wingdings" panose="05000000000000000000" charset="0"/>
              <a:buChar char="ü"/>
            </a:pPr>
            <a:r>
              <a:rPr lang="en-GB" dirty="0"/>
              <a:t>I completed my intermediate (engineering) in 2024.</a:t>
            </a:r>
            <a:endParaRPr lang="en-GB" dirty="0"/>
          </a:p>
          <a:p>
            <a:pPr>
              <a:buFont typeface="Wingdings" panose="05000000000000000000" charset="0"/>
              <a:buChar char="ü"/>
            </a:pPr>
            <a:r>
              <a:rPr lang="en-GB" dirty="0"/>
              <a:t>I have done language course recently and got certificate.</a:t>
            </a:r>
            <a:endParaRPr lang="en-GB" dirty="0"/>
          </a:p>
          <a:p>
            <a:pPr>
              <a:buFont typeface="Wingdings" panose="05000000000000000000" charset="0"/>
              <a:buChar char="ü"/>
            </a:pPr>
            <a:r>
              <a:rPr lang="en-GB" dirty="0"/>
              <a:t>I am doing CIT (certificate information technology) and its going on.</a:t>
            </a:r>
            <a:endParaRPr lang="en-GB" dirty="0"/>
          </a:p>
        </p:txBody>
      </p:sp>
      <p:cxnSp>
        <p:nvCxnSpPr>
          <p:cNvPr id="5" name="Straight Connector 4"/>
          <p:cNvCxnSpPr/>
          <p:nvPr/>
        </p:nvCxnSpPr>
        <p:spPr>
          <a:xfrm>
            <a:off x="1384663" y="1617526"/>
            <a:ext cx="10807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663" y="535577"/>
            <a:ext cx="9987733" cy="1045029"/>
          </a:xfrm>
        </p:spPr>
        <p:txBody>
          <a:bodyPr/>
          <a:lstStyle/>
          <a:p>
            <a:pPr algn="l"/>
            <a:r>
              <a:rPr lang="en-GB" dirty="0" smtClean="0">
                <a:latin typeface="Algerian" panose="04020705040A02060702" pitchFamily="82" charset="0"/>
              </a:rPr>
              <a:t>Skills learn from CIT</a:t>
            </a:r>
            <a:endParaRPr lang="en-GB" dirty="0">
              <a:latin typeface="Algerian" panose="04020705040A02060702" pitchFamily="82" charset="0"/>
            </a:endParaRPr>
          </a:p>
        </p:txBody>
      </p:sp>
      <p:sp>
        <p:nvSpPr>
          <p:cNvPr id="3" name="Content Placeholder 2"/>
          <p:cNvSpPr>
            <a:spLocks noGrp="1"/>
          </p:cNvSpPr>
          <p:nvPr>
            <p:ph idx="1"/>
          </p:nvPr>
        </p:nvSpPr>
        <p:spPr>
          <a:xfrm>
            <a:off x="1353681" y="2625635"/>
            <a:ext cx="10018713" cy="2484120"/>
          </a:xfrm>
        </p:spPr>
        <p:txBody>
          <a:bodyPr>
            <a:normAutofit fontScale="90000" lnSpcReduction="20000"/>
          </a:bodyPr>
          <a:lstStyle/>
          <a:p>
            <a:pPr>
              <a:buFont typeface="Wingdings" panose="05000000000000000000" pitchFamily="2" charset="2"/>
              <a:buChar char="§"/>
            </a:pPr>
            <a:r>
              <a:rPr lang="en-GB" dirty="0" smtClean="0"/>
              <a:t>Ms Office (word, excel and power point)</a:t>
            </a:r>
            <a:endParaRPr lang="en-GB" dirty="0" smtClean="0"/>
          </a:p>
          <a:p>
            <a:pPr>
              <a:buFont typeface="Wingdings" panose="05000000000000000000" pitchFamily="2" charset="2"/>
              <a:buChar char="§"/>
            </a:pPr>
            <a:r>
              <a:rPr lang="en-GB" dirty="0" smtClean="0"/>
              <a:t>Using Github for project uploading and sharing. </a:t>
            </a:r>
            <a:endParaRPr lang="en-GB" dirty="0" smtClean="0"/>
          </a:p>
          <a:p>
            <a:pPr>
              <a:buFont typeface="Wingdings" panose="05000000000000000000" pitchFamily="2" charset="2"/>
              <a:buChar char="§"/>
            </a:pPr>
            <a:r>
              <a:rPr lang="en-GB" dirty="0" smtClean="0"/>
              <a:t>Visual studio code</a:t>
            </a:r>
            <a:endParaRPr lang="en-GB" dirty="0" smtClean="0"/>
          </a:p>
          <a:p>
            <a:pPr>
              <a:buFont typeface="Wingdings" panose="05000000000000000000" pitchFamily="2" charset="2"/>
              <a:buChar char="§"/>
            </a:pPr>
            <a:r>
              <a:rPr lang="en-GB" dirty="0" smtClean="0"/>
              <a:t>Improved presentation skills.</a:t>
            </a:r>
            <a:endParaRPr lang="en-GB" dirty="0" smtClean="0"/>
          </a:p>
          <a:p>
            <a:pPr>
              <a:buFont typeface="Wingdings" panose="05000000000000000000" pitchFamily="2" charset="2"/>
              <a:buChar char="§"/>
            </a:pPr>
            <a:r>
              <a:rPr lang="en-GB" dirty="0" smtClean="0"/>
              <a:t>Python (Basic)</a:t>
            </a:r>
            <a:endParaRPr lang="en-GB" dirty="0" smtClean="0"/>
          </a:p>
          <a:p>
            <a:pPr>
              <a:buFont typeface="Wingdings" panose="05000000000000000000" pitchFamily="2" charset="2"/>
              <a:buChar char="§"/>
            </a:pPr>
            <a:endParaRPr lang="en-GB" dirty="0" smtClean="0"/>
          </a:p>
          <a:p>
            <a:pPr>
              <a:buFont typeface="Wingdings" panose="05000000000000000000" pitchFamily="2" charset="2"/>
              <a:buChar char="§"/>
            </a:pPr>
            <a:endParaRPr lang="en-GB" dirty="0" smtClean="0"/>
          </a:p>
          <a:p>
            <a:pPr>
              <a:buFont typeface="Wingdings" panose="05000000000000000000" pitchFamily="2" charset="2"/>
              <a:buChar char="§"/>
            </a:pPr>
            <a:endParaRPr lang="en-GB" dirty="0" smtClean="0"/>
          </a:p>
          <a:p>
            <a:pPr>
              <a:buFont typeface="Wingdings" panose="05000000000000000000" pitchFamily="2" charset="2"/>
              <a:buChar char="§"/>
            </a:pPr>
            <a:endParaRPr lang="en-GB" dirty="0"/>
          </a:p>
        </p:txBody>
      </p:sp>
      <p:cxnSp>
        <p:nvCxnSpPr>
          <p:cNvPr id="7" name="Straight Connector 6"/>
          <p:cNvCxnSpPr/>
          <p:nvPr/>
        </p:nvCxnSpPr>
        <p:spPr>
          <a:xfrm flipV="1">
            <a:off x="1353681" y="1358537"/>
            <a:ext cx="10838319" cy="391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2897" y="404950"/>
            <a:ext cx="10018713" cy="1188720"/>
          </a:xfrm>
        </p:spPr>
        <p:txBody>
          <a:bodyPr/>
          <a:lstStyle/>
          <a:p>
            <a:r>
              <a:rPr lang="en-GB" dirty="0" smtClean="0">
                <a:latin typeface="Algerian" panose="04020705040A02060702" pitchFamily="82" charset="0"/>
              </a:rPr>
              <a:t>FAVOURITE TOPIC</a:t>
            </a:r>
            <a:endParaRPr lang="en-GB" dirty="0">
              <a:latin typeface="Algerian" panose="04020705040A02060702" pitchFamily="82" charset="0"/>
            </a:endParaRPr>
          </a:p>
        </p:txBody>
      </p:sp>
      <p:sp>
        <p:nvSpPr>
          <p:cNvPr id="3" name="Content Placeholder 2"/>
          <p:cNvSpPr>
            <a:spLocks noGrp="1"/>
          </p:cNvSpPr>
          <p:nvPr>
            <p:ph idx="1"/>
          </p:nvPr>
        </p:nvSpPr>
        <p:spPr>
          <a:xfrm>
            <a:off x="1499874" y="1920239"/>
            <a:ext cx="10018713" cy="3056709"/>
          </a:xfrm>
        </p:spPr>
        <p:txBody>
          <a:bodyPr>
            <a:normAutofit/>
          </a:bodyPr>
          <a:lstStyle/>
          <a:p>
            <a:pPr marL="0" indent="0" algn="just">
              <a:buNone/>
            </a:pPr>
            <a:r>
              <a:rPr lang="en-GB" dirty="0" smtClean="0"/>
              <a:t>Ladies and gentlemen, today I want to talk about something that drives us all </a:t>
            </a:r>
            <a:r>
              <a:rPr lang="en-GB" b="1" dirty="0" smtClean="0"/>
              <a:t>”Motivation”</a:t>
            </a:r>
            <a:r>
              <a:rPr lang="en-GB" dirty="0" smtClean="0"/>
              <a:t>. It’s the spark that ignites our passions, fuels our dreams, and pushes us to achieve greatness. When we are motivated, we are more focused, more productive and more resilient. Sometime we feel </a:t>
            </a:r>
            <a:r>
              <a:rPr lang="en-GB" dirty="0" err="1" smtClean="0"/>
              <a:t>lowkey</a:t>
            </a:r>
            <a:r>
              <a:rPr lang="en-GB" dirty="0" smtClean="0"/>
              <a:t> down and we just need someone’s motivation. Because of this, we feel strong, confident and more focused. We need to learn from failures. If you don’t have anyone, be your own therapist and motivate yourself because you are capable enough.</a:t>
            </a:r>
            <a:endParaRPr lang="en-GB" dirty="0" smtClean="0"/>
          </a:p>
        </p:txBody>
      </p:sp>
      <p:cxnSp>
        <p:nvCxnSpPr>
          <p:cNvPr id="5" name="Straight Connector 4"/>
          <p:cNvCxnSpPr/>
          <p:nvPr/>
        </p:nvCxnSpPr>
        <p:spPr>
          <a:xfrm>
            <a:off x="1371600" y="1410789"/>
            <a:ext cx="10820400" cy="130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8813" y="868680"/>
            <a:ext cx="7672753" cy="947057"/>
          </a:xfrm>
        </p:spPr>
        <p:txBody>
          <a:bodyPr>
            <a:normAutofit/>
          </a:bodyPr>
          <a:lstStyle/>
          <a:p>
            <a:pPr algn="l"/>
            <a:r>
              <a:rPr lang="en-GB" sz="3200" b="1" dirty="0" smtClean="0"/>
              <a:t>HERE ARE SOME TIPS FOR YOU:</a:t>
            </a:r>
            <a:endParaRPr lang="en-GB" sz="3200" b="1" dirty="0"/>
          </a:p>
        </p:txBody>
      </p:sp>
      <p:sp>
        <p:nvSpPr>
          <p:cNvPr id="3" name="Content Placeholder 2"/>
          <p:cNvSpPr>
            <a:spLocks noGrp="1"/>
          </p:cNvSpPr>
          <p:nvPr>
            <p:ph idx="1"/>
          </p:nvPr>
        </p:nvSpPr>
        <p:spPr>
          <a:xfrm>
            <a:off x="1301430" y="1815737"/>
            <a:ext cx="10018713" cy="3479076"/>
          </a:xfrm>
        </p:spPr>
        <p:txBody>
          <a:bodyPr/>
          <a:lstStyle/>
          <a:p>
            <a:pPr>
              <a:buFont typeface="Wingdings" panose="05000000000000000000" pitchFamily="2" charset="2"/>
              <a:buChar char="v"/>
            </a:pPr>
            <a:r>
              <a:rPr lang="en-GB" b="1" dirty="0"/>
              <a:t>Trust your abilities: </a:t>
            </a:r>
            <a:r>
              <a:rPr lang="en-GB" dirty="0"/>
              <a:t>You have unique strength and talents.</a:t>
            </a:r>
            <a:endParaRPr lang="en-GB" b="1" dirty="0"/>
          </a:p>
          <a:p>
            <a:pPr>
              <a:buFont typeface="Wingdings" panose="05000000000000000000" pitchFamily="2" charset="2"/>
              <a:buChar char="v"/>
            </a:pPr>
            <a:r>
              <a:rPr lang="en-GB" b="1" dirty="0"/>
              <a:t>Set goals: </a:t>
            </a:r>
            <a:r>
              <a:rPr lang="en-GB" dirty="0"/>
              <a:t>Identify what you want to achieve.</a:t>
            </a:r>
            <a:endParaRPr lang="en-GB" b="1" dirty="0"/>
          </a:p>
          <a:p>
            <a:pPr>
              <a:buFont typeface="Wingdings" panose="05000000000000000000" pitchFamily="2" charset="2"/>
              <a:buChar char="v"/>
            </a:pPr>
            <a:r>
              <a:rPr lang="en-GB" b="1" dirty="0"/>
              <a:t>Face challenges: </a:t>
            </a:r>
            <a:r>
              <a:rPr lang="en-GB" dirty="0"/>
              <a:t>Don’t let fear hold you back.</a:t>
            </a:r>
            <a:endParaRPr lang="en-GB" b="1" dirty="0"/>
          </a:p>
          <a:p>
            <a:pPr>
              <a:buFont typeface="Wingdings" panose="05000000000000000000" pitchFamily="2" charset="2"/>
              <a:buChar char="v"/>
            </a:pPr>
            <a:r>
              <a:rPr lang="en-GB" b="1" dirty="0"/>
              <a:t>Learn from failures: </a:t>
            </a:r>
            <a:r>
              <a:rPr lang="en-GB" dirty="0"/>
              <a:t>Use setbacks as opportunities for growth.</a:t>
            </a:r>
            <a:endParaRPr lang="en-GB" b="1" dirty="0"/>
          </a:p>
          <a:p>
            <a:pPr>
              <a:buFont typeface="Wingdings" panose="05000000000000000000" pitchFamily="2" charset="2"/>
              <a:buChar char="v"/>
            </a:pPr>
            <a:r>
              <a:rPr lang="en-GB" b="1" dirty="0"/>
              <a:t>Find your why: </a:t>
            </a:r>
            <a:r>
              <a:rPr lang="en-GB" dirty="0"/>
              <a:t>Identify your purpose and passion.</a:t>
            </a:r>
            <a:endParaRPr lang="en-GB" b="1" dirty="0"/>
          </a:p>
          <a:p>
            <a:pPr>
              <a:buFont typeface="Wingdings" panose="05000000000000000000" pitchFamily="2" charset="2"/>
              <a:buChar char="v"/>
            </a:pPr>
            <a:r>
              <a:rPr lang="en-GB" b="1" dirty="0"/>
              <a:t>Celebrate progress: </a:t>
            </a:r>
            <a:r>
              <a:rPr lang="en-GB" dirty="0"/>
              <a:t>Acknowledge your </a:t>
            </a:r>
            <a:r>
              <a:rPr lang="en-GB" dirty="0" smtClean="0"/>
              <a:t>achievement .</a:t>
            </a:r>
            <a:endParaRPr lang="en-GB" dirty="0"/>
          </a:p>
        </p:txBody>
      </p:sp>
      <p:cxnSp>
        <p:nvCxnSpPr>
          <p:cNvPr id="5" name="Straight Connector 4"/>
          <p:cNvCxnSpPr/>
          <p:nvPr/>
        </p:nvCxnSpPr>
        <p:spPr>
          <a:xfrm flipV="1">
            <a:off x="1301430" y="1685109"/>
            <a:ext cx="10890570" cy="391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9809" y="587828"/>
            <a:ext cx="3401198" cy="1319349"/>
          </a:xfrm>
        </p:spPr>
        <p:txBody>
          <a:bodyPr/>
          <a:lstStyle/>
          <a:p>
            <a:r>
              <a:rPr lang="en-GB" dirty="0" smtClean="0">
                <a:latin typeface="Algerian" panose="04020705040A02060702" pitchFamily="82" charset="0"/>
              </a:rPr>
              <a:t>CONCLUSION:</a:t>
            </a:r>
            <a:endParaRPr lang="en-GB" dirty="0">
              <a:latin typeface="Algerian" panose="04020705040A02060702" pitchFamily="82" charset="0"/>
            </a:endParaRPr>
          </a:p>
        </p:txBody>
      </p:sp>
      <p:sp>
        <p:nvSpPr>
          <p:cNvPr id="3" name="Content Placeholder 2"/>
          <p:cNvSpPr>
            <a:spLocks noGrp="1"/>
          </p:cNvSpPr>
          <p:nvPr>
            <p:ph idx="1"/>
          </p:nvPr>
        </p:nvSpPr>
        <p:spPr>
          <a:xfrm>
            <a:off x="1345474" y="1541417"/>
            <a:ext cx="10018713" cy="2142309"/>
          </a:xfrm>
        </p:spPr>
        <p:txBody>
          <a:bodyPr>
            <a:normAutofit/>
          </a:bodyPr>
          <a:lstStyle/>
          <a:p>
            <a:pPr marL="0" indent="0" algn="just">
              <a:buNone/>
            </a:pPr>
            <a:r>
              <a:rPr lang="en-GB" dirty="0" smtClean="0"/>
              <a:t>Motivational is a powerful tool that can help us achieve our dreams. It’s what drives us, what inspires us, and what pushes us to be our best selves. Let’s harness the power of motivation and unlock our full potential.</a:t>
            </a:r>
            <a:endParaRPr lang="en-GB" dirty="0"/>
          </a:p>
        </p:txBody>
      </p:sp>
      <p:cxnSp>
        <p:nvCxnSpPr>
          <p:cNvPr id="5" name="Straight Connector 4"/>
          <p:cNvCxnSpPr/>
          <p:nvPr/>
        </p:nvCxnSpPr>
        <p:spPr>
          <a:xfrm flipV="1">
            <a:off x="1345474" y="1541417"/>
            <a:ext cx="10846526" cy="522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70010" y="156754"/>
            <a:ext cx="10018713" cy="1384663"/>
          </a:xfrm>
        </p:spPr>
        <p:txBody>
          <a:bodyPr>
            <a:normAutofit/>
          </a:bodyPr>
          <a:lstStyle/>
          <a:p>
            <a:r>
              <a:rPr lang="en-GB" dirty="0" smtClean="0">
                <a:latin typeface="Algerian" panose="04020705040A02060702" pitchFamily="82" charset="0"/>
              </a:rPr>
              <a:t>STRENGTH AND WEAKNESS</a:t>
            </a:r>
            <a:endParaRPr lang="en-GB" dirty="0">
              <a:latin typeface="Algerian" panose="04020705040A02060702" pitchFamily="82" charset="0"/>
            </a:endParaRPr>
          </a:p>
        </p:txBody>
      </p:sp>
      <p:sp>
        <p:nvSpPr>
          <p:cNvPr id="22" name="Content Placeholder 21"/>
          <p:cNvSpPr>
            <a:spLocks noGrp="1"/>
          </p:cNvSpPr>
          <p:nvPr>
            <p:ph sz="half" idx="1"/>
          </p:nvPr>
        </p:nvSpPr>
        <p:spPr>
          <a:xfrm>
            <a:off x="1433859" y="1588222"/>
            <a:ext cx="4352988" cy="4202978"/>
          </a:xfrm>
        </p:spPr>
        <p:txBody>
          <a:bodyPr anchor="t">
            <a:normAutofit/>
          </a:bodyPr>
          <a:lstStyle/>
          <a:p>
            <a:pPr marL="0" indent="0">
              <a:buNone/>
            </a:pPr>
            <a:r>
              <a:rPr lang="en-GB" sz="2400" b="1" dirty="0" smtClean="0"/>
              <a:t>STRENGTH</a:t>
            </a:r>
            <a:endParaRPr lang="en-GB" sz="2400" b="1" dirty="0" smtClean="0"/>
          </a:p>
          <a:p>
            <a:pPr marL="0" indent="0" algn="ctr">
              <a:buNone/>
            </a:pPr>
            <a:endParaRPr lang="en-GB" sz="2400" b="1" dirty="0"/>
          </a:p>
          <a:p>
            <a:pPr>
              <a:buFont typeface="Wingdings" panose="05000000000000000000" pitchFamily="2" charset="2"/>
              <a:buChar char="q"/>
            </a:pPr>
            <a:r>
              <a:rPr lang="en-GB" sz="2000" dirty="0" smtClean="0">
                <a:effectLst>
                  <a:outerShdw blurRad="38100" dist="38100" dir="2700000" algn="tl">
                    <a:srgbClr val="000000">
                      <a:alpha val="43137"/>
                    </a:srgbClr>
                  </a:outerShdw>
                </a:effectLst>
              </a:rPr>
              <a:t>Communication skill</a:t>
            </a:r>
            <a:endParaRPr lang="en-GB" sz="2000" dirty="0" smtClean="0">
              <a:effectLst>
                <a:outerShdw blurRad="38100" dist="38100" dir="2700000" algn="tl">
                  <a:srgbClr val="000000">
                    <a:alpha val="43137"/>
                  </a:srgbClr>
                </a:outerShdw>
              </a:effectLst>
            </a:endParaRPr>
          </a:p>
          <a:p>
            <a:pPr>
              <a:buFont typeface="Wingdings" panose="05000000000000000000" pitchFamily="2" charset="2"/>
              <a:buChar char="q"/>
            </a:pPr>
            <a:r>
              <a:rPr lang="en-GB" sz="2000" dirty="0" smtClean="0">
                <a:effectLst>
                  <a:outerShdw blurRad="38100" dist="38100" dir="2700000" algn="tl">
                    <a:srgbClr val="000000">
                      <a:alpha val="43137"/>
                    </a:srgbClr>
                  </a:outerShdw>
                </a:effectLst>
              </a:rPr>
              <a:t>Empathy</a:t>
            </a:r>
            <a:endParaRPr lang="en-GB" sz="2000" dirty="0" smtClean="0">
              <a:effectLst>
                <a:outerShdw blurRad="38100" dist="38100" dir="2700000" algn="tl">
                  <a:srgbClr val="000000">
                    <a:alpha val="43137"/>
                  </a:srgbClr>
                </a:outerShdw>
              </a:effectLst>
            </a:endParaRPr>
          </a:p>
          <a:p>
            <a:pPr>
              <a:buFont typeface="Wingdings" panose="05000000000000000000" pitchFamily="2" charset="2"/>
              <a:buChar char="q"/>
            </a:pPr>
            <a:r>
              <a:rPr lang="en-GB" sz="2000" dirty="0" smtClean="0">
                <a:effectLst>
                  <a:outerShdw blurRad="38100" dist="38100" dir="2700000" algn="tl">
                    <a:srgbClr val="000000">
                      <a:alpha val="43137"/>
                    </a:srgbClr>
                  </a:outerShdw>
                </a:effectLst>
              </a:rPr>
              <a:t>Teamwork</a:t>
            </a:r>
            <a:endParaRPr lang="en-GB" sz="2000" dirty="0" smtClean="0">
              <a:effectLst>
                <a:outerShdw blurRad="38100" dist="38100" dir="2700000" algn="tl">
                  <a:srgbClr val="000000">
                    <a:alpha val="43137"/>
                  </a:srgbClr>
                </a:outerShdw>
              </a:effectLst>
            </a:endParaRPr>
          </a:p>
          <a:p>
            <a:pPr>
              <a:buFont typeface="Wingdings" panose="05000000000000000000" pitchFamily="2" charset="2"/>
              <a:buChar char="q"/>
            </a:pPr>
            <a:r>
              <a:rPr lang="en-GB" sz="2000" dirty="0" smtClean="0">
                <a:effectLst>
                  <a:outerShdw blurRad="38100" dist="38100" dir="2700000" algn="tl">
                    <a:srgbClr val="000000">
                      <a:alpha val="43137"/>
                    </a:srgbClr>
                  </a:outerShdw>
                </a:effectLst>
              </a:rPr>
              <a:t>Confident</a:t>
            </a:r>
            <a:endParaRPr lang="en-GB" sz="2000" dirty="0" smtClean="0">
              <a:effectLst>
                <a:outerShdw blurRad="38100" dist="38100" dir="2700000" algn="tl">
                  <a:srgbClr val="000000">
                    <a:alpha val="43137"/>
                  </a:srgbClr>
                </a:outerShdw>
              </a:effectLst>
            </a:endParaRPr>
          </a:p>
          <a:p>
            <a:pPr>
              <a:buFont typeface="Wingdings" panose="05000000000000000000" pitchFamily="2" charset="2"/>
              <a:buChar char="q"/>
            </a:pPr>
            <a:r>
              <a:rPr lang="en-GB" sz="2000" dirty="0" smtClean="0">
                <a:effectLst>
                  <a:outerShdw blurRad="38100" dist="38100" dir="2700000" algn="tl">
                    <a:srgbClr val="000000">
                      <a:alpha val="43137"/>
                    </a:srgbClr>
                  </a:outerShdw>
                </a:effectLst>
              </a:rPr>
              <a:t>Leadership skill</a:t>
            </a:r>
            <a:endParaRPr lang="en-GB" sz="2000" dirty="0" smtClean="0">
              <a:effectLst>
                <a:outerShdw blurRad="38100" dist="38100" dir="2700000" algn="tl">
                  <a:srgbClr val="000000">
                    <a:alpha val="43137"/>
                  </a:srgbClr>
                </a:outerShdw>
              </a:effectLst>
            </a:endParaRPr>
          </a:p>
          <a:p>
            <a:pPr>
              <a:buFont typeface="Wingdings" panose="05000000000000000000" pitchFamily="2" charset="2"/>
              <a:buChar char="q"/>
            </a:pPr>
            <a:r>
              <a:rPr lang="en-GB" sz="2000" dirty="0" smtClean="0">
                <a:effectLst>
                  <a:outerShdw blurRad="38100" dist="38100" dir="2700000" algn="tl">
                    <a:srgbClr val="000000">
                      <a:alpha val="43137"/>
                    </a:srgbClr>
                  </a:outerShdw>
                </a:effectLst>
              </a:rPr>
              <a:t>Reliable</a:t>
            </a:r>
            <a:endParaRPr lang="en-GB" sz="2000" dirty="0" smtClean="0">
              <a:effectLst>
                <a:outerShdw blurRad="38100" dist="38100" dir="2700000" algn="tl">
                  <a:srgbClr val="000000">
                    <a:alpha val="43137"/>
                  </a:srgbClr>
                </a:outerShdw>
              </a:effectLst>
            </a:endParaRPr>
          </a:p>
        </p:txBody>
      </p:sp>
      <p:sp>
        <p:nvSpPr>
          <p:cNvPr id="23" name="Content Placeholder 22"/>
          <p:cNvSpPr>
            <a:spLocks noGrp="1"/>
          </p:cNvSpPr>
          <p:nvPr>
            <p:ph sz="half" idx="2"/>
          </p:nvPr>
        </p:nvSpPr>
        <p:spPr>
          <a:xfrm>
            <a:off x="7014753" y="1588222"/>
            <a:ext cx="4488269" cy="4202978"/>
          </a:xfrm>
        </p:spPr>
        <p:txBody>
          <a:bodyPr anchor="t">
            <a:normAutofit/>
          </a:bodyPr>
          <a:lstStyle/>
          <a:p>
            <a:pPr marL="0" indent="0">
              <a:buNone/>
            </a:pPr>
            <a:r>
              <a:rPr lang="en-GB" sz="2400" dirty="0" smtClean="0">
                <a:ln w="0"/>
                <a:effectLst>
                  <a:outerShdw blurRad="38100" dist="19050" dir="2700000" algn="tl" rotWithShape="0">
                    <a:schemeClr val="dk1">
                      <a:alpha val="40000"/>
                    </a:schemeClr>
                  </a:outerShdw>
                </a:effectLst>
              </a:rPr>
              <a:t>WEAKNESS</a:t>
            </a:r>
            <a:endParaRPr lang="en-GB" sz="2400" dirty="0" smtClean="0">
              <a:ln w="0"/>
              <a:effectLst>
                <a:outerShdw blurRad="38100" dist="19050" dir="2700000" algn="tl" rotWithShape="0">
                  <a:schemeClr val="dk1">
                    <a:alpha val="40000"/>
                  </a:schemeClr>
                </a:outerShdw>
              </a:effectLst>
            </a:endParaRPr>
          </a:p>
          <a:p>
            <a:pPr marL="0" indent="0" algn="ctr">
              <a:buNone/>
            </a:pPr>
            <a:endParaRPr lang="en-GB" sz="2400" dirty="0">
              <a:ln w="0"/>
              <a:effectLst>
                <a:outerShdw blurRad="38100" dist="19050" dir="2700000" algn="tl" rotWithShape="0">
                  <a:schemeClr val="dk1">
                    <a:alpha val="40000"/>
                  </a:schemeClr>
                </a:outerShdw>
              </a:effectLst>
            </a:endParaRPr>
          </a:p>
          <a:p>
            <a:pPr>
              <a:buFont typeface="Wingdings" panose="05000000000000000000" pitchFamily="2" charset="2"/>
              <a:buChar char="q"/>
            </a:pPr>
            <a:r>
              <a:rPr lang="en-GB" sz="2000" dirty="0" smtClean="0">
                <a:ln w="0"/>
                <a:effectLst>
                  <a:outerShdw blurRad="38100" dist="19050" dir="2700000" algn="tl" rotWithShape="0">
                    <a:schemeClr val="dk1">
                      <a:alpha val="40000"/>
                    </a:schemeClr>
                  </a:outerShdw>
                </a:effectLst>
              </a:rPr>
              <a:t>Blindly trust</a:t>
            </a:r>
            <a:endParaRPr lang="en-GB" sz="2000" dirty="0" smtClean="0">
              <a:ln w="0"/>
              <a:effectLst>
                <a:outerShdw blurRad="38100" dist="19050" dir="2700000" algn="tl" rotWithShape="0">
                  <a:schemeClr val="dk1">
                    <a:alpha val="40000"/>
                  </a:schemeClr>
                </a:outerShdw>
              </a:effectLst>
            </a:endParaRPr>
          </a:p>
          <a:p>
            <a:pPr>
              <a:buFont typeface="Wingdings" panose="05000000000000000000" pitchFamily="2" charset="2"/>
              <a:buChar char="q"/>
            </a:pPr>
            <a:r>
              <a:rPr lang="en-GB" sz="2000" dirty="0" smtClean="0">
                <a:ln w="0"/>
                <a:effectLst>
                  <a:outerShdw blurRad="38100" dist="19050" dir="2700000" algn="tl" rotWithShape="0">
                    <a:schemeClr val="dk1">
                      <a:alpha val="40000"/>
                    </a:schemeClr>
                  </a:outerShdw>
                </a:effectLst>
              </a:rPr>
              <a:t>Self-doubt</a:t>
            </a:r>
            <a:endParaRPr lang="en-GB" sz="2000" dirty="0" smtClean="0">
              <a:ln w="0"/>
              <a:effectLst>
                <a:outerShdw blurRad="38100" dist="19050" dir="2700000" algn="tl" rotWithShape="0">
                  <a:schemeClr val="dk1">
                    <a:alpha val="40000"/>
                  </a:schemeClr>
                </a:outerShdw>
              </a:effectLst>
            </a:endParaRPr>
          </a:p>
          <a:p>
            <a:pPr>
              <a:buFont typeface="Wingdings" panose="05000000000000000000" pitchFamily="2" charset="2"/>
              <a:buChar char="q"/>
            </a:pPr>
            <a:r>
              <a:rPr lang="en-GB" sz="2000" dirty="0" smtClean="0">
                <a:ln w="0"/>
                <a:effectLst>
                  <a:outerShdw blurRad="38100" dist="19050" dir="2700000" algn="tl" rotWithShape="0">
                    <a:schemeClr val="dk1">
                      <a:alpha val="40000"/>
                    </a:schemeClr>
                  </a:outerShdw>
                </a:effectLst>
              </a:rPr>
              <a:t>Anxious</a:t>
            </a:r>
            <a:endParaRPr lang="en-GB" sz="2000" dirty="0" smtClean="0">
              <a:ln w="0"/>
              <a:effectLst>
                <a:outerShdw blurRad="38100" dist="19050" dir="2700000" algn="tl" rotWithShape="0">
                  <a:schemeClr val="dk1">
                    <a:alpha val="40000"/>
                  </a:schemeClr>
                </a:outerShdw>
              </a:effectLst>
            </a:endParaRPr>
          </a:p>
          <a:p>
            <a:pPr>
              <a:buFont typeface="Wingdings" panose="05000000000000000000" pitchFamily="2" charset="2"/>
              <a:buChar char="q"/>
            </a:pPr>
            <a:r>
              <a:rPr lang="en-GB" sz="2000" dirty="0" smtClean="0">
                <a:ln w="0"/>
                <a:effectLst>
                  <a:outerShdw blurRad="38100" dist="19050" dir="2700000" algn="tl" rotWithShape="0">
                    <a:schemeClr val="dk1">
                      <a:alpha val="40000"/>
                    </a:schemeClr>
                  </a:outerShdw>
                </a:effectLst>
              </a:rPr>
              <a:t>Amicable</a:t>
            </a:r>
            <a:endParaRPr lang="en-GB" sz="2000" dirty="0" smtClean="0">
              <a:ln w="0"/>
              <a:effectLst>
                <a:outerShdw blurRad="38100" dist="19050" dir="2700000" algn="tl" rotWithShape="0">
                  <a:schemeClr val="dk1">
                    <a:alpha val="40000"/>
                  </a:schemeClr>
                </a:outerShdw>
              </a:effectLst>
            </a:endParaRPr>
          </a:p>
          <a:p>
            <a:pPr>
              <a:buFont typeface="Wingdings" panose="05000000000000000000" pitchFamily="2" charset="2"/>
              <a:buChar char="q"/>
            </a:pPr>
            <a:r>
              <a:rPr lang="en-GB" sz="2000" dirty="0" smtClean="0">
                <a:ln w="0"/>
                <a:effectLst>
                  <a:outerShdw blurRad="38100" dist="19050" dir="2700000" algn="tl" rotWithShape="0">
                    <a:schemeClr val="dk1">
                      <a:alpha val="40000"/>
                    </a:schemeClr>
                  </a:outerShdw>
                </a:effectLst>
              </a:rPr>
              <a:t>Overthinking</a:t>
            </a:r>
            <a:endParaRPr lang="en-GB" sz="2000" dirty="0" smtClean="0">
              <a:ln w="0"/>
              <a:effectLst>
                <a:outerShdw blurRad="38100" dist="19050" dir="2700000" algn="tl" rotWithShape="0">
                  <a:schemeClr val="dk1">
                    <a:alpha val="40000"/>
                  </a:schemeClr>
                </a:outerShdw>
              </a:effectLst>
            </a:endParaRPr>
          </a:p>
          <a:p>
            <a:pPr marL="0" indent="0">
              <a:buNone/>
            </a:pPr>
            <a:endParaRPr lang="en-GB" sz="2000" dirty="0" smtClean="0">
              <a:ln w="0"/>
              <a:effectLst>
                <a:outerShdw blurRad="38100" dist="19050" dir="2700000" algn="tl" rotWithShape="0">
                  <a:schemeClr val="dk1">
                    <a:alpha val="40000"/>
                  </a:schemeClr>
                </a:outerShdw>
              </a:effectLst>
            </a:endParaRPr>
          </a:p>
        </p:txBody>
      </p:sp>
      <p:cxnSp>
        <p:nvCxnSpPr>
          <p:cNvPr id="13" name="Straight Connector 12"/>
          <p:cNvCxnSpPr/>
          <p:nvPr/>
        </p:nvCxnSpPr>
        <p:spPr>
          <a:xfrm flipV="1">
            <a:off x="1366747" y="1293224"/>
            <a:ext cx="10825253" cy="391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09" y="474616"/>
            <a:ext cx="10018713" cy="949235"/>
          </a:xfrm>
        </p:spPr>
        <p:txBody>
          <a:bodyPr/>
          <a:lstStyle/>
          <a:p>
            <a:r>
              <a:rPr lang="en-GB" dirty="0" smtClean="0">
                <a:latin typeface="Algerian" panose="04020705040A02060702" pitchFamily="82" charset="0"/>
              </a:rPr>
              <a:t>FUTURE GOAL</a:t>
            </a:r>
            <a:endParaRPr lang="en-GB" dirty="0">
              <a:latin typeface="Algerian" panose="04020705040A02060702" pitchFamily="82" charset="0"/>
            </a:endParaRPr>
          </a:p>
        </p:txBody>
      </p:sp>
      <p:sp>
        <p:nvSpPr>
          <p:cNvPr id="3" name="Content Placeholder 2"/>
          <p:cNvSpPr>
            <a:spLocks noGrp="1"/>
          </p:cNvSpPr>
          <p:nvPr>
            <p:ph idx="1"/>
          </p:nvPr>
        </p:nvSpPr>
        <p:spPr>
          <a:xfrm>
            <a:off x="1428711" y="1558708"/>
            <a:ext cx="6131338" cy="3666435"/>
          </a:xfrm>
        </p:spPr>
        <p:txBody>
          <a:bodyPr>
            <a:normAutofit fontScale="92500"/>
          </a:bodyPr>
          <a:lstStyle/>
          <a:p>
            <a:pPr marL="0" indent="0" algn="just">
              <a:buNone/>
            </a:pPr>
            <a:r>
              <a:rPr lang="en-GB" dirty="0" smtClean="0"/>
              <a:t>I would likely want to lead a major company. I want to become CEO, director, or manager and I will chose the path which I have interest. I don’t know about my future but I have a wish that I will earn lot of money and  build a pet house for animals where they will be treated. I will take the responsibility of taking care and the better treatment. I love being around of cats and </a:t>
            </a:r>
            <a:r>
              <a:rPr lang="en-GB" b="1" dirty="0" smtClean="0"/>
              <a:t>Allen Beck(researcher) </a:t>
            </a:r>
            <a:r>
              <a:rPr lang="en-GB" dirty="0" smtClean="0"/>
              <a:t>who studied the human-animal bond and said its benefit for human health.</a:t>
            </a:r>
            <a:endParaRPr lang="en-GB" dirty="0" smtClean="0"/>
          </a:p>
        </p:txBody>
      </p:sp>
      <p:cxnSp>
        <p:nvCxnSpPr>
          <p:cNvPr id="5" name="Straight Connector 4"/>
          <p:cNvCxnSpPr/>
          <p:nvPr/>
        </p:nvCxnSpPr>
        <p:spPr>
          <a:xfrm flipH="1">
            <a:off x="1428711" y="1306286"/>
            <a:ext cx="10763289" cy="1306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991509" y="1789611"/>
            <a:ext cx="3949369" cy="3148149"/>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6487" y="483325"/>
            <a:ext cx="10585769" cy="940526"/>
          </a:xfrm>
          <a:ln>
            <a:noFill/>
          </a:ln>
        </p:spPr>
        <p:txBody>
          <a:bodyPr>
            <a:normAutofit/>
          </a:bodyPr>
          <a:lstStyle/>
          <a:p>
            <a:pPr algn="l"/>
            <a:r>
              <a:rPr lang="en-GB" dirty="0" smtClean="0">
                <a:latin typeface="Algerian" panose="04020705040A02060702" pitchFamily="82" charset="0"/>
              </a:rPr>
              <a:t>INSPIRATION</a:t>
            </a:r>
            <a:endParaRPr lang="en-GB" dirty="0">
              <a:latin typeface="Algerian" panose="04020705040A02060702" pitchFamily="82" charset="0"/>
            </a:endParaRPr>
          </a:p>
        </p:txBody>
      </p:sp>
      <p:cxnSp>
        <p:nvCxnSpPr>
          <p:cNvPr id="5" name="Straight Connector 4"/>
          <p:cNvCxnSpPr/>
          <p:nvPr/>
        </p:nvCxnSpPr>
        <p:spPr>
          <a:xfrm flipV="1">
            <a:off x="1366744" y="1293223"/>
            <a:ext cx="10825256" cy="3918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2" name="Content Placeholder 11"/>
          <p:cNvSpPr>
            <a:spLocks noGrp="1"/>
          </p:cNvSpPr>
          <p:nvPr>
            <p:ph idx="1"/>
          </p:nvPr>
        </p:nvSpPr>
        <p:spPr>
          <a:xfrm>
            <a:off x="1366745" y="1580605"/>
            <a:ext cx="6745290" cy="4545875"/>
          </a:xfrm>
        </p:spPr>
        <p:txBody>
          <a:bodyPr>
            <a:normAutofit lnSpcReduction="10000"/>
          </a:bodyPr>
          <a:lstStyle/>
          <a:p>
            <a:pPr marL="0" indent="0" algn="just">
              <a:buNone/>
            </a:pPr>
            <a:r>
              <a:rPr lang="en-GB" dirty="0" smtClean="0"/>
              <a:t>Today we celebrate the unsung heroes who rescue animals from streets. These individuals embody compassion, kindness and empathy. They see the value in every life, no matter how small or vulnerable. Rescuing animals from streets is not just about saving lives, its about changing lives. Its about giving a second chance to those who need it most. Every rescue story is a testament to the human spirit’s capacity for kindness and generosity. These heroes inspires us to be better versions of ourselves. They show us that even small actions can have a significant impact. By sharing their stories, we can motivate a difference in their communities. </a:t>
            </a:r>
            <a:endParaRPr lang="en-GB" dirty="0" smtClean="0"/>
          </a:p>
          <a:p>
            <a:pPr marL="0" indent="0">
              <a:buNone/>
            </a:pPr>
            <a:endParaRPr lang="en-GB" dirty="0"/>
          </a:p>
        </p:txBody>
      </p:sp>
      <p:pic>
        <p:nvPicPr>
          <p:cNvPr id="13" name="Picture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31778" y="1580605"/>
            <a:ext cx="3840478" cy="2790688"/>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854926" y="1933302"/>
            <a:ext cx="7236822" cy="3958047"/>
          </a:xfrm>
        </p:spPr>
        <p:txBody>
          <a:bodyPr vert="horz">
            <a:normAutofit/>
          </a:bodyPr>
          <a:lstStyle/>
          <a:p>
            <a:pPr>
              <a:lnSpc>
                <a:spcPct val="100000"/>
              </a:lnSpc>
            </a:pPr>
            <a:r>
              <a:rPr lang="en-GB" b="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Every life matters, and every action counts. Lets keep making a difference, one rescue at a time.</a:t>
            </a:r>
            <a:endParaRPr lang="en-GB"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BC1C1C"/>
      </a:accent1>
      <a:accent2>
        <a:srgbClr val="F67534"/>
      </a:accent2>
      <a:accent3>
        <a:srgbClr val="EAAC35"/>
      </a:accent3>
      <a:accent4>
        <a:srgbClr val="9BAF68"/>
      </a:accent4>
      <a:accent5>
        <a:srgbClr val="68B9A6"/>
      </a:accent5>
      <a:accent6>
        <a:srgbClr val="50B1D4"/>
      </a:accent6>
      <a:hlink>
        <a:srgbClr val="E46416"/>
      </a:hlink>
      <a:folHlink>
        <a:srgbClr val="EE9340"/>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0</TotalTime>
  <Words>3696</Words>
  <Application>WPS Presentation</Application>
  <PresentationFormat>Widescreen</PresentationFormat>
  <Paragraphs>94</Paragraphs>
  <Slides>12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SimSun</vt:lpstr>
      <vt:lpstr>Wingdings</vt:lpstr>
      <vt:lpstr>Arial</vt:lpstr>
      <vt:lpstr>Algerian</vt:lpstr>
      <vt:lpstr>Wingdings</vt:lpstr>
      <vt:lpstr>Corbel</vt:lpstr>
      <vt:lpstr>Microsoft YaHei</vt:lpstr>
      <vt:lpstr>Arial Unicode MS</vt:lpstr>
      <vt:lpstr>Calibri</vt:lpstr>
      <vt:lpstr>Parallax</vt:lpstr>
      <vt:lpstr>INTRODUCTION</vt:lpstr>
      <vt:lpstr>PERSIONALITY TRAIT</vt:lpstr>
      <vt:lpstr>HOBBIES AND INTEREST</vt:lpstr>
      <vt:lpstr>ACADEMIC</vt:lpstr>
      <vt:lpstr>Skills learn from CIT</vt:lpstr>
      <vt:lpstr>FAVOURITE TOPIC</vt:lpstr>
      <vt:lpstr>HERE ARE SOME TIPS FOR YOU:</vt:lpstr>
      <vt:lpstr>CONCLUSION:</vt:lpstr>
      <vt:lpstr>STRENGTH AND WEAKNESS</vt:lpstr>
      <vt:lpstr>FUTURE GOAL</vt:lpstr>
      <vt:lpstr>INSPIRATION</vt:lpstr>
      <vt:lpstr>Every life matters, and every action counts. Lets keep making a difference, one rescue at a time.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Microsoft account</dc:creator>
  <cp:lastModifiedBy>Admin</cp:lastModifiedBy>
  <cp:revision>38</cp:revision>
  <dcterms:created xsi:type="dcterms:W3CDTF">2025-09-27T11:37:00Z</dcterms:created>
  <dcterms:modified xsi:type="dcterms:W3CDTF">2025-09-27T18:05:10Z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CA79BE50783548CB9C43328B4813BE1D_12</vt:lpwstr>
  </property>
  <property fmtid="{D5CDD505-2E9C-101B-9397-08002B2CF9AE}" pid="3" name="KSOProductBuildVer">
    <vt:lpwstr>2057-12.2.0.21931</vt:lpwstr>
  </property>
</Properties>
</file>